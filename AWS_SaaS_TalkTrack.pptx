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— The Story [0:00–0:30]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~10,000 AWS SaaS transactions across EMEA, AMER, APJ</a:t>
            </a:r>
          </a:p>
          <a:p>
            <a:pPr>
              <a:defRPr sz="1800"/>
            </a:pPr>
            <a:r>
              <a:t>Enriched with World Bank GDP + Internet data</a:t>
            </a:r>
          </a:p>
          <a:p>
            <a:pPr>
              <a:defRPr sz="1800"/>
            </a:pPr>
            <a:r>
              <a:t>Central question: Why are some regions profitable while others bleed money?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Protagonist [0:30–1:15]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$230 avg sales — but only $29 profit → 12% margin</a:t>
            </a:r>
          </a:p>
          <a:p>
            <a:pPr>
              <a:defRPr sz="1800"/>
            </a:pPr>
            <a:r>
              <a:t>SaaS industry benchmark: 60–80%</a:t>
            </a:r>
          </a:p>
          <a:p>
            <a:pPr>
              <a:defRPr sz="1800"/>
            </a:pPr>
            <a:r>
              <a:t>Discount CI extremely narrow: 15–16% (fixed steps)</a:t>
            </a:r>
          </a:p>
          <a:p>
            <a:pPr>
              <a:defRPr sz="1800"/>
            </a:pPr>
            <a:r>
              <a:t>→ Something is eating into margins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BQ3: Discounts by Region [1:15–2:00]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Independent t-Test: EMEA vs AMER</a:t>
            </a:r>
          </a:p>
          <a:p>
            <a:pPr>
              <a:defRPr sz="1800"/>
            </a:pPr>
            <a:r>
              <a:t>AMER: 11% avg discount</a:t>
            </a:r>
          </a:p>
          <a:p>
            <a:pPr>
              <a:defRPr sz="1800"/>
            </a:pPr>
            <a:r>
              <a:t>EMEA: 14% avg discount</a:t>
            </a:r>
          </a:p>
          <a:p>
            <a:pPr>
              <a:defRPr sz="1800"/>
            </a:pPr>
            <a:r>
              <a:t>APJ: 27% avg discount — nearly 3x AMER</a:t>
            </a:r>
          </a:p>
          <a:p>
            <a:pPr>
              <a:defRPr sz="1800"/>
            </a:pPr>
            <a:r>
              <a:t>H₀ REJECTED — discount strategy is not consistent globally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BQ5: Do Discounts Cause Losses? — CLIMAX [2:00–3:30]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Chi-Square Test on 10,000 transactions</a:t>
            </a:r>
          </a:p>
          <a:p>
            <a:pPr>
              <a:defRPr sz="1800"/>
            </a:pPr>
            <a:r>
              <a:t>100% of all 1,871 loss-making transactions had a discount</a:t>
            </a:r>
          </a:p>
          <a:p>
            <a:pPr>
              <a:defRPr sz="1800"/>
            </a:pPr>
            <a:r>
              <a:t>Zero non-discounted transactions resulted in a loss</a:t>
            </a:r>
          </a:p>
          <a:p>
            <a:pPr>
              <a:defRPr sz="1800"/>
            </a:pPr>
            <a:r>
              <a:t>→ Discounts are the SOLE driver of losses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BQ1 / BQ2 / BQ4 — What Doesn't Matter [3:30–4:00]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GDP per capita → R² = 0.005 (explains 0.5% of variance)</a:t>
            </a:r>
          </a:p>
          <a:p>
            <a:pPr>
              <a:defRPr sz="1800"/>
            </a:pPr>
            <a:r>
              <a:t>Internet penetration → r = 0.07 (no correlation)</a:t>
            </a:r>
          </a:p>
          <a:p>
            <a:pPr>
              <a:defRPr sz="1800"/>
            </a:pPr>
            <a:r>
              <a:t>Customer segment → p = 0.21 (no difference)</a:t>
            </a:r>
          </a:p>
          <a:p>
            <a:pPr>
              <a:defRPr sz="1800"/>
            </a:pPr>
            <a:r>
              <a:t>→ External factors and customer type have zero predictive 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Recommendations [4:00–4:45]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Review APJ Discounts — 27% avg, biggest profitability leak</a:t>
            </a:r>
          </a:p>
          <a:p>
            <a:pPr>
              <a:defRPr sz="1800"/>
            </a:pPr>
            <a:r>
              <a:t>2. Set Discount Caps — every loss had a discount, no exceptions</a:t>
            </a:r>
          </a:p>
          <a:p>
            <a:pPr>
              <a:defRPr sz="1800"/>
            </a:pPr>
            <a:r>
              <a:t>3. Focus on Internal Levers — market conditions don't matter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[4:45–5:00]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It doesn't matter where your customer is from</a:t>
            </a:r>
          </a:p>
          <a:p>
            <a:pPr>
              <a:defRPr sz="1800"/>
            </a:pPr>
            <a:r>
              <a:t>It doesn't matter what segment they're in</a:t>
            </a:r>
          </a:p>
          <a:p>
            <a:pPr>
              <a:defRPr sz="1800"/>
            </a:pPr>
            <a:r>
              <a:t>The one lever that controls profitability: discount strategy</a:t>
            </a:r>
          </a:p>
          <a:p>
            <a:pPr>
              <a:defRPr sz="1800"/>
            </a:pPr>
            <a:r>
              <a:t>That's the 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